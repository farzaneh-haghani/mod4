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76" r:id="rId3"/>
    <p:sldId id="256" r:id="rId4"/>
    <p:sldId id="257" r:id="rId5"/>
    <p:sldId id="277" r:id="rId6"/>
    <p:sldId id="278" r:id="rId7"/>
    <p:sldId id="259" r:id="rId8"/>
    <p:sldId id="279" r:id="rId9"/>
    <p:sldId id="280" r:id="rId10"/>
    <p:sldId id="281" r:id="rId11"/>
    <p:sldId id="282" r:id="rId12"/>
    <p:sldId id="265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CF78-B819-DB87-F523-622245CAB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CB5B0-2248-194E-F573-91570265E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1731B-2AB6-9812-E94C-5A8A5C9D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BBE0F-AFFC-91BC-EF2D-ADC1FD01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7B22A-35BE-7DCA-3947-A7749237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60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C738-8FBD-0AAE-B1C3-D3A56B61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A7B7-7129-380E-C767-CC942DF1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0A860-CA5B-E538-783E-8A8BEE4A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9F6E-23C0-C9A6-951B-0D853B9C8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24073-D658-CF41-B29A-494A84C7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08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23C5-FC73-A154-D285-4F27BF60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1E072-03FB-3295-4759-5D581A09A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0D21B-A5FA-9F7C-5114-0997EE8B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23CF-F1DC-8CD1-1C25-DAA26A1B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1DB22-5D36-8D3C-F18E-96AE7783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7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0EC1-0A2A-6DCC-A00E-70862815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F1CDB-1DE2-3FA6-F8B4-FFF01F4E2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0862E-AAB3-02EA-8E69-00B2271C9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DCC0-5706-C92B-0CA1-5188C5C9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8A6A4-EB8C-2523-60DC-060E7CA2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80027-5D71-DF2E-AF7E-E77BCD75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755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705-B0CB-4BFD-3E05-18D7A26A2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D33E-BEB9-0564-31AA-1258C05B5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7A52F-BABF-3869-7D87-A941463C5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5AFF8-0593-4237-827D-AD02497B7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88301-F6A5-0C3C-127D-B0C7C4EC6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BC707E-D682-E721-0400-CD13D753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344F0-3934-2E0D-CEF5-C58E6AF0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3E455-40DA-A671-A471-91D4BB6C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16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C61-A71F-DE0E-2BD5-3F6D2858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7BF27-4633-30ED-0F5D-576589E9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9E463-C7B0-5D50-30A0-605E1B73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A21D1-D5D6-2877-3205-EC3D62E8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93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0BEA7-E954-E9AD-F885-F341E118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6E65DE-FC4D-B4CF-0E47-7BD0C1A1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B1169-1EB2-00F3-358F-7F0EC188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09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A9B5-232E-61DD-931D-88AE90D3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43483-2AB4-46A3-F92E-60CC86F88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52D1C-560D-7622-70A7-69278C743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1CF00-9B44-DC76-59F4-EB1394C0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9E76B-4737-6B3D-936F-5F13FAC6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BD7CB-F1BB-E96F-9C54-F49D2331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85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1406B-F9B8-C79A-6A7D-77626B56F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B75DF-327F-32FB-556E-8DA3DCBB8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2D4DD-31A6-41D2-0A7F-4563D597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2AC3A-F487-B8D8-4F0B-164960412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1D0BD-CD3E-F239-27B7-39FAA500A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53D28-7908-92BF-6B47-6D2CC05E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6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07DA-181D-587C-6F52-F9222ECD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C2568-DD06-4BA6-52B8-2F5FA5DE7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87982-2DD4-BFF6-0378-621885C8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D2D12-7322-D6AD-C423-0C431EDD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E3060-A33C-8EFA-0E11-1443E64C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49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ABDA5D-C932-E769-09E6-0E1E7A714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5AA31-637E-0847-71A6-94323FE20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4D949-EDCC-BEA8-60C5-C68546FE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857AD-CAB3-9B4D-6929-65700B77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7A166-3D64-3547-5778-CF105859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37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4F879-66DD-4486-128F-34F430145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3F8B2-4D2E-DE2A-8E81-FB5239927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7146-827C-17AD-C0EC-A0F68F2C1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6B2CF-0566-43C4-B778-CF73F2BEE112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E540A-F05B-43BF-E382-06812C00B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1BBDD-B496-896C-57C6-70F394E54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52259-2A6D-4EE4-86C4-39DE2F37F7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19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desktop/install/windows-install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hyperlink" Target="https://adrin.info/gitgithub-how-to-contribute-to-an-open-source-project-on-github.html" TargetMode="External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jpe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..../calculator-jenkins.gi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E54907-52B1-4878-6643-583ECA1153E1}"/>
              </a:ext>
            </a:extLst>
          </p:cNvPr>
          <p:cNvSpPr txBox="1"/>
          <p:nvPr/>
        </p:nvSpPr>
        <p:spPr>
          <a:xfrm>
            <a:off x="263471" y="139665"/>
            <a:ext cx="11928529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sz="4000" b="1" i="0" dirty="0">
                <a:solidFill>
                  <a:srgbClr val="345A8A"/>
                </a:solidFill>
                <a:effectLst/>
                <a:latin typeface="Montserrat" panose="00000500000000000000" pitchFamily="2" charset="0"/>
              </a:rPr>
              <a:t>Lab - Continuous Integration with Jenkins </a:t>
            </a:r>
            <a:endParaRPr lang="en-GB" sz="1400" b="1" i="0" dirty="0">
              <a:solidFill>
                <a:srgbClr val="345A8A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 this lab you will work with Jenkins which is a Continuous Integration (</a:t>
            </a:r>
            <a:r>
              <a:rPr lang="en-GB" sz="1800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CI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) tool. </a:t>
            </a:r>
            <a:b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</a:b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The project supplied is written in Java, but Jenkins' CI pipeline can work for any buildable software. </a:t>
            </a:r>
            <a:endParaRPr lang="en-GB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3200" b="0" i="0" dirty="0">
              <a:solidFill>
                <a:srgbClr val="00404F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28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Objectives</a:t>
            </a:r>
            <a:br>
              <a:rPr lang="en-GB" sz="28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</a:br>
            <a:endParaRPr lang="en-GB" sz="1600" b="0" i="0" dirty="0">
              <a:solidFill>
                <a:srgbClr val="00404F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get Jenkins up and running </a:t>
            </a: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using Docker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explore the options Jenkins gives us for connecting to other services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To explore the Jenkins dashboard 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l" rtl="0" fontAlgn="base"/>
            <a:endParaRPr lang="en-GB" sz="1800" b="1" i="0" dirty="0">
              <a:solidFill>
                <a:srgbClr val="00404F"/>
              </a:solidFill>
              <a:effectLst/>
              <a:latin typeface="Montserrat" panose="00000500000000000000" pitchFamily="2" charset="0"/>
            </a:endParaRPr>
          </a:p>
          <a:p>
            <a:pPr algn="l" rtl="0" fontAlgn="base"/>
            <a:r>
              <a:rPr lang="en-GB" sz="2000" b="1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Prerequisites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Docker desktop is installed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Git CLI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Montserrat" panose="00000500000000000000" pitchFamily="2" charset="0"/>
              </a:rPr>
              <a:t>You have a GitHub account</a:t>
            </a:r>
          </a:p>
          <a:p>
            <a:pPr algn="l" rtl="0" fontAlgn="base"/>
            <a:r>
              <a:rPr lang="en-GB" sz="1800" b="0" i="0" dirty="0">
                <a:solidFill>
                  <a:srgbClr val="00404F"/>
                </a:solidFill>
                <a:effectLst/>
                <a:latin typeface="Montserrat" panose="00000500000000000000" pitchFamily="2" charset="0"/>
              </a:rPr>
              <a:t> </a:t>
            </a:r>
            <a:endParaRPr lang="en-GB" sz="1100" b="0" i="0" dirty="0">
              <a:solidFill>
                <a:srgbClr val="00404F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en-GB" sz="18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Action Button: Go Forward or Next 2">
            <a:hlinkClick r:id="rId2" highlightClick="1"/>
            <a:extLst>
              <a:ext uri="{FF2B5EF4-FFF2-40B4-BE49-F238E27FC236}">
                <a16:creationId xmlns:a16="http://schemas.microsoft.com/office/drawing/2014/main" id="{635D00C9-71A2-283E-1987-D1AE80331D97}"/>
              </a:ext>
            </a:extLst>
          </p:cNvPr>
          <p:cNvSpPr/>
          <p:nvPr/>
        </p:nvSpPr>
        <p:spPr>
          <a:xfrm>
            <a:off x="3926819" y="5204834"/>
            <a:ext cx="489538" cy="320477"/>
          </a:xfrm>
          <a:prstGeom prst="actionButtonForwardNex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95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ands typing on laptop">
            <a:extLst>
              <a:ext uri="{FF2B5EF4-FFF2-40B4-BE49-F238E27FC236}">
                <a16:creationId xmlns:a16="http://schemas.microsoft.com/office/drawing/2014/main" id="{84B35CB0-9AAF-BC2C-7235-A76AF427C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39" y="1251713"/>
            <a:ext cx="2644081" cy="1227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couple of logos with text">
            <a:extLst>
              <a:ext uri="{FF2B5EF4-FFF2-40B4-BE49-F238E27FC236}">
                <a16:creationId xmlns:a16="http://schemas.microsoft.com/office/drawing/2014/main" id="{6E944132-2286-DEA1-97A5-08F68BF83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780466" y="1223375"/>
            <a:ext cx="2234028" cy="12560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028" name="Picture 4" descr="A Guide to Continuous Integration Tools | Logz.io">
            <a:extLst>
              <a:ext uri="{FF2B5EF4-FFF2-40B4-BE49-F238E27FC236}">
                <a16:creationId xmlns:a16="http://schemas.microsoft.com/office/drawing/2014/main" id="{278835D3-0D16-9648-E210-A3A098A75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409" y="1223375"/>
            <a:ext cx="2122164" cy="14132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DA70B99-683E-BC69-48A1-13C3EC45C5EA}"/>
              </a:ext>
            </a:extLst>
          </p:cNvPr>
          <p:cNvGrpSpPr/>
          <p:nvPr/>
        </p:nvGrpSpPr>
        <p:grpSpPr>
          <a:xfrm>
            <a:off x="8942731" y="4519586"/>
            <a:ext cx="2762054" cy="1532127"/>
            <a:chOff x="4008659" y="2394408"/>
            <a:chExt cx="2762054" cy="153212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E1AB250-9B02-3CBB-5070-C5A385699D64}"/>
                </a:ext>
              </a:extLst>
            </p:cNvPr>
            <p:cNvSpPr/>
            <p:nvPr/>
          </p:nvSpPr>
          <p:spPr>
            <a:xfrm>
              <a:off x="4008659" y="2394408"/>
              <a:ext cx="2762054" cy="1532127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41761B-342A-3311-A6D7-9C54FC57EA03}"/>
                </a:ext>
              </a:extLst>
            </p:cNvPr>
            <p:cNvGrpSpPr/>
            <p:nvPr/>
          </p:nvGrpSpPr>
          <p:grpSpPr>
            <a:xfrm>
              <a:off x="4479145" y="2537665"/>
              <a:ext cx="1743959" cy="1256027"/>
              <a:chOff x="9249266" y="444756"/>
              <a:chExt cx="1743959" cy="1256027"/>
            </a:xfrm>
          </p:grpSpPr>
          <p:pic>
            <p:nvPicPr>
              <p:cNvPr id="20" name="Graphic 19" descr="Server with solid fill">
                <a:extLst>
                  <a:ext uri="{FF2B5EF4-FFF2-40B4-BE49-F238E27FC236}">
                    <a16:creationId xmlns:a16="http://schemas.microsoft.com/office/drawing/2014/main" id="{D5A586CD-8AEC-8F0A-7C04-FCB689762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249266" y="44475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1" name="Graphic 20" descr="Server outline">
                <a:extLst>
                  <a:ext uri="{FF2B5EF4-FFF2-40B4-BE49-F238E27FC236}">
                    <a16:creationId xmlns:a16="http://schemas.microsoft.com/office/drawing/2014/main" id="{D010BEBD-AAA1-19F8-F887-7058398C8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078825" y="44475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824BE2-0B7F-83F8-B1BD-5DDEB8EF6B23}"/>
                  </a:ext>
                </a:extLst>
              </p:cNvPr>
              <p:cNvSpPr txBox="1"/>
              <p:nvPr/>
            </p:nvSpPr>
            <p:spPr>
              <a:xfrm>
                <a:off x="9541497" y="1331451"/>
                <a:ext cx="12366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Production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3A085E0-7BEB-9636-A12E-BD9079506C92}"/>
              </a:ext>
            </a:extLst>
          </p:cNvPr>
          <p:cNvSpPr txBox="1"/>
          <p:nvPr/>
        </p:nvSpPr>
        <p:spPr>
          <a:xfrm>
            <a:off x="688157" y="2697246"/>
            <a:ext cx="18498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Write code</a:t>
            </a:r>
            <a:br>
              <a:rPr lang="en-GB" b="1" dirty="0"/>
            </a:br>
            <a:r>
              <a:rPr lang="en-GB" b="1" dirty="0"/>
              <a:t>Make changes</a:t>
            </a:r>
          </a:p>
          <a:p>
            <a:r>
              <a:rPr lang="en-GB" b="1" dirty="0"/>
              <a:t>Check the code in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D87BC27-83F8-FA86-6F00-C6CA3FFF4C7B}"/>
              </a:ext>
            </a:extLst>
          </p:cNvPr>
          <p:cNvSpPr/>
          <p:nvPr/>
        </p:nvSpPr>
        <p:spPr>
          <a:xfrm>
            <a:off x="3562019" y="162988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F0845C-2279-E73C-DACE-BF781916EC4A}"/>
              </a:ext>
            </a:extLst>
          </p:cNvPr>
          <p:cNvSpPr txBox="1"/>
          <p:nvPr/>
        </p:nvSpPr>
        <p:spPr>
          <a:xfrm>
            <a:off x="4945434" y="2698816"/>
            <a:ext cx="2075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Detects the change</a:t>
            </a:r>
            <a:br>
              <a:rPr lang="en-GB" b="1" dirty="0"/>
            </a:br>
            <a:r>
              <a:rPr lang="en-GB" b="1" dirty="0"/>
              <a:t>Raises a build event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88E4CA-9229-2CEE-1340-F85EA130C0FD}"/>
              </a:ext>
            </a:extLst>
          </p:cNvPr>
          <p:cNvSpPr txBox="1"/>
          <p:nvPr/>
        </p:nvSpPr>
        <p:spPr>
          <a:xfrm>
            <a:off x="9175426" y="2709813"/>
            <a:ext cx="2417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Build and runs tests</a:t>
            </a:r>
            <a:br>
              <a:rPr lang="en-GB" b="1" dirty="0"/>
            </a:br>
            <a:r>
              <a:rPr lang="en-GB" b="1" dirty="0"/>
              <a:t>Deploy the code</a:t>
            </a:r>
          </a:p>
          <a:p>
            <a:r>
              <a:rPr lang="en-GB" b="1" dirty="0"/>
              <a:t>Report result to GitHub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6994004-BCDE-A312-ADB1-670D77FEED26}"/>
              </a:ext>
            </a:extLst>
          </p:cNvPr>
          <p:cNvSpPr/>
          <p:nvPr/>
        </p:nvSpPr>
        <p:spPr>
          <a:xfrm>
            <a:off x="7605930" y="1251713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9964633-DFAB-6C63-A215-C9B5D2C65CB4}"/>
              </a:ext>
            </a:extLst>
          </p:cNvPr>
          <p:cNvSpPr/>
          <p:nvPr/>
        </p:nvSpPr>
        <p:spPr>
          <a:xfrm rot="5400000">
            <a:off x="9978871" y="380577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5DE8913-2F2B-2453-81C2-AADE20101C15}"/>
              </a:ext>
            </a:extLst>
          </p:cNvPr>
          <p:cNvSpPr/>
          <p:nvPr/>
        </p:nvSpPr>
        <p:spPr>
          <a:xfrm rot="10800000">
            <a:off x="7587075" y="1930008"/>
            <a:ext cx="689775" cy="471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42099-BB54-4B91-986A-8F9098B81A70}"/>
              </a:ext>
            </a:extLst>
          </p:cNvPr>
          <p:cNvSpPr txBox="1"/>
          <p:nvPr/>
        </p:nvSpPr>
        <p:spPr>
          <a:xfrm>
            <a:off x="386924" y="4167562"/>
            <a:ext cx="7039964" cy="16004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rtl="0" fontAlgn="base"/>
            <a:r>
              <a:rPr lang="en-GB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 this lab, you will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D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eploy a Maven app from GitHub to Jenkins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Build and test the app using Jenkins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Make changes to you</a:t>
            </a:r>
            <a:r>
              <a:rPr lang="en-GB" sz="1600" dirty="0">
                <a:solidFill>
                  <a:srgbClr val="000000"/>
                </a:solidFill>
                <a:latin typeface="Montserrat" panose="00000500000000000000" pitchFamily="2" charset="0"/>
              </a:rPr>
              <a:t>r code and deploy the changes to GitHub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Set up Jenkins to detect the change in code and rebuild the app</a:t>
            </a:r>
          </a:p>
          <a:p>
            <a:pPr algn="l" rtl="0" fontAlgn="base"/>
            <a:endParaRPr lang="en-GB" sz="1600" b="0" i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DC4A36-FA09-0A8C-AD80-50E49F22DCE1}"/>
              </a:ext>
            </a:extLst>
          </p:cNvPr>
          <p:cNvSpPr txBox="1"/>
          <p:nvPr/>
        </p:nvSpPr>
        <p:spPr>
          <a:xfrm>
            <a:off x="3484676" y="159161"/>
            <a:ext cx="4706013" cy="46166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Objective of this exercise</a:t>
            </a:r>
          </a:p>
        </p:txBody>
      </p:sp>
    </p:spTree>
    <p:extLst>
      <p:ext uri="{BB962C8B-B14F-4D97-AF65-F5344CB8AC3E}">
        <p14:creationId xmlns:p14="http://schemas.microsoft.com/office/powerpoint/2010/main" val="400490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BD4741-3C7C-C8D3-0EFD-1EE68DB2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74" y="2150041"/>
            <a:ext cx="6051710" cy="4442841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467DEE-1FD7-A5B6-8058-7CCB99D0A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355" y="2146398"/>
            <a:ext cx="2759630" cy="464009"/>
          </a:xfrm>
          <a:prstGeom prst="rect">
            <a:avLst/>
          </a:prstGeom>
          <a:ln w="38100" cap="sq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D635F7AD-2413-7945-C4B9-4B66D60D34E2}"/>
              </a:ext>
            </a:extLst>
          </p:cNvPr>
          <p:cNvSpPr/>
          <p:nvPr/>
        </p:nvSpPr>
        <p:spPr>
          <a:xfrm rot="16200000">
            <a:off x="6370320" y="221894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F6CF74-9DC7-7BC0-A480-AF9066B4D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0" y="3057372"/>
            <a:ext cx="4845395" cy="19535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2D572149-178A-2C18-20F0-B4848E08F0AD}"/>
              </a:ext>
            </a:extLst>
          </p:cNvPr>
          <p:cNvSpPr/>
          <p:nvPr/>
        </p:nvSpPr>
        <p:spPr>
          <a:xfrm>
            <a:off x="8537448" y="267614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hought Bubble: Cloud 17">
            <a:extLst>
              <a:ext uri="{FF2B5EF4-FFF2-40B4-BE49-F238E27FC236}">
                <a16:creationId xmlns:a16="http://schemas.microsoft.com/office/drawing/2014/main" id="{A3E5BE69-AE48-01B3-0886-0918495A3797}"/>
              </a:ext>
            </a:extLst>
          </p:cNvPr>
          <p:cNvSpPr/>
          <p:nvPr/>
        </p:nvSpPr>
        <p:spPr>
          <a:xfrm>
            <a:off x="3044952" y="5513832"/>
            <a:ext cx="1005840" cy="399061"/>
          </a:xfrm>
          <a:prstGeom prst="cloudCallout">
            <a:avLst>
              <a:gd name="adj1" fmla="val -80119"/>
              <a:gd name="adj2" fmla="val 143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copy</a:t>
            </a:r>
          </a:p>
        </p:txBody>
      </p: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E0E28F16-8E2A-F96F-7A68-D751D8A1554E}"/>
              </a:ext>
            </a:extLst>
          </p:cNvPr>
          <p:cNvSpPr/>
          <p:nvPr/>
        </p:nvSpPr>
        <p:spPr>
          <a:xfrm>
            <a:off x="7535756" y="5267948"/>
            <a:ext cx="1091184" cy="399061"/>
          </a:xfrm>
          <a:prstGeom prst="cloudCallout">
            <a:avLst>
              <a:gd name="adj1" fmla="val -57262"/>
              <a:gd name="adj2" fmla="val -1208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E08BA1-C298-33A7-5DBB-902EC71059FE}"/>
              </a:ext>
            </a:extLst>
          </p:cNvPr>
          <p:cNvSpPr txBox="1"/>
          <p:nvPr/>
        </p:nvSpPr>
        <p:spPr>
          <a:xfrm>
            <a:off x="161544" y="1320157"/>
            <a:ext cx="11472672" cy="338554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docker run -p 8080:8080 -p 50000:50000 -v 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jenkins_home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:/var/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jenkins_home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</a:t>
            </a:r>
            <a:r>
              <a:rPr lang="en-GB" sz="1600" b="1" i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1600" b="1" i="0" dirty="0" err="1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jenkins:lts</a:t>
            </a:r>
            <a:endParaRPr lang="en-GB" sz="1600" b="1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55DC5016-E31E-23D0-6C5C-2C1FFF8DBDDE}"/>
              </a:ext>
            </a:extLst>
          </p:cNvPr>
          <p:cNvSpPr/>
          <p:nvPr/>
        </p:nvSpPr>
        <p:spPr>
          <a:xfrm>
            <a:off x="3187399" y="1679422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9DB6B5-829B-71B6-00A2-F9CE682479E9}"/>
              </a:ext>
            </a:extLst>
          </p:cNvPr>
          <p:cNvSpPr txBox="1"/>
          <p:nvPr/>
        </p:nvSpPr>
        <p:spPr>
          <a:xfrm>
            <a:off x="3484676" y="159161"/>
            <a:ext cx="4706013" cy="461665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Run Jenkins using Docker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01A9F9B5-5C72-1E8D-1413-3F96A40282A6}"/>
              </a:ext>
            </a:extLst>
          </p:cNvPr>
          <p:cNvSpPr/>
          <p:nvPr/>
        </p:nvSpPr>
        <p:spPr>
          <a:xfrm>
            <a:off x="566012" y="901360"/>
            <a:ext cx="2836470" cy="344424"/>
          </a:xfrm>
          <a:prstGeom prst="wedgeEllipseCallout">
            <a:avLst>
              <a:gd name="adj1" fmla="val -59441"/>
              <a:gd name="adj2" fmla="val 412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In a terminal window, type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341A6C2-7E58-570F-5539-95C18AB7152D}"/>
              </a:ext>
            </a:extLst>
          </p:cNvPr>
          <p:cNvSpPr/>
          <p:nvPr/>
        </p:nvSpPr>
        <p:spPr>
          <a:xfrm>
            <a:off x="10008716" y="2140348"/>
            <a:ext cx="1387756" cy="534067"/>
          </a:xfrm>
          <a:prstGeom prst="wedgeEllipseCallout">
            <a:avLst>
              <a:gd name="adj1" fmla="val -63394"/>
              <a:gd name="adj2" fmla="val 54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Run Jenkins in a browser</a:t>
            </a:r>
          </a:p>
        </p:txBody>
      </p:sp>
    </p:spTree>
    <p:extLst>
      <p:ext uri="{BB962C8B-B14F-4D97-AF65-F5344CB8AC3E}">
        <p14:creationId xmlns:p14="http://schemas.microsoft.com/office/powerpoint/2010/main" val="374698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B354E4-5DC8-8996-9B85-99E2DFCA7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947" y="2569655"/>
            <a:ext cx="3870282" cy="35019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15307475-0FD3-F87E-77E1-FE32340DC4D4}"/>
              </a:ext>
            </a:extLst>
          </p:cNvPr>
          <p:cNvSpPr/>
          <p:nvPr/>
        </p:nvSpPr>
        <p:spPr>
          <a:xfrm rot="16200000">
            <a:off x="5556114" y="343509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6B655-D255-ECD4-7740-0B1D80D99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832" y="545690"/>
            <a:ext cx="2063687" cy="1505425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F83E8E01-62CB-B74D-E892-813806AB17B3}"/>
              </a:ext>
            </a:extLst>
          </p:cNvPr>
          <p:cNvSpPr/>
          <p:nvPr/>
        </p:nvSpPr>
        <p:spPr>
          <a:xfrm>
            <a:off x="3312919" y="210219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5C3A4-D446-A5BD-8229-1A648955D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183" y="3091515"/>
            <a:ext cx="3409950" cy="885825"/>
          </a:xfrm>
          <a:prstGeom prst="rect">
            <a:avLst/>
          </a:prstGeom>
          <a:ln w="28575">
            <a:solidFill>
              <a:schemeClr val="bg1">
                <a:lumMod val="50000"/>
              </a:schemeClr>
            </a:solidFill>
          </a:ln>
        </p:spPr>
      </p:pic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FF057DD6-88B9-F996-0312-7C2A6C3B0A44}"/>
              </a:ext>
            </a:extLst>
          </p:cNvPr>
          <p:cNvSpPr/>
          <p:nvPr/>
        </p:nvSpPr>
        <p:spPr>
          <a:xfrm>
            <a:off x="9538045" y="3501931"/>
            <a:ext cx="1723036" cy="534067"/>
          </a:xfrm>
          <a:prstGeom prst="wedgeEllipseCallout">
            <a:avLst>
              <a:gd name="adj1" fmla="val -63394"/>
              <a:gd name="adj2" fmla="val 54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Accept or change the port</a:t>
            </a:r>
          </a:p>
        </p:txBody>
      </p:sp>
      <p:pic>
        <p:nvPicPr>
          <p:cNvPr id="3" name="Picture 4" descr="A Guide to Continuous Integration Tools | Logz.io">
            <a:extLst>
              <a:ext uri="{FF2B5EF4-FFF2-40B4-BE49-F238E27FC236}">
                <a16:creationId xmlns:a16="http://schemas.microsoft.com/office/drawing/2014/main" id="{EE186A27-18C4-81FD-85F9-1ABD348F2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1" y="133489"/>
            <a:ext cx="1902973" cy="12672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14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EECF97-490A-F203-0FE4-07A99D4A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3" y="1550381"/>
            <a:ext cx="1829055" cy="4953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4DE833A6-940F-59BA-047B-CAC50558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1" y="38910"/>
            <a:ext cx="1986562" cy="13229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021398-32B4-13B8-2C8E-8269A42BB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13" y="1487634"/>
            <a:ext cx="3143436" cy="1053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15F7C5-9618-F064-057D-57DE444C5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954" y="1564643"/>
            <a:ext cx="2025094" cy="4457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1715AA21-1687-CEED-2F45-05D011CBFA27}"/>
              </a:ext>
            </a:extLst>
          </p:cNvPr>
          <p:cNvSpPr/>
          <p:nvPr/>
        </p:nvSpPr>
        <p:spPr>
          <a:xfrm>
            <a:off x="10286173" y="4896531"/>
            <a:ext cx="795528" cy="356616"/>
          </a:xfrm>
          <a:prstGeom prst="wedgeEllipseCallout">
            <a:avLst>
              <a:gd name="adj1" fmla="val 42935"/>
              <a:gd name="adj2" fmla="val -9391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EEAFE977-1D31-E38F-C2BB-9E62159F0D04}"/>
              </a:ext>
            </a:extLst>
          </p:cNvPr>
          <p:cNvSpPr/>
          <p:nvPr/>
        </p:nvSpPr>
        <p:spPr>
          <a:xfrm rot="16200000">
            <a:off x="2278644" y="17118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C4AF3CAD-2A11-23F4-21A8-8F16A08A78CD}"/>
              </a:ext>
            </a:extLst>
          </p:cNvPr>
          <p:cNvSpPr/>
          <p:nvPr/>
        </p:nvSpPr>
        <p:spPr>
          <a:xfrm rot="16200000">
            <a:off x="5741178" y="167187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FD92812E-D023-458E-22AF-C4EFD41AAB03}"/>
              </a:ext>
            </a:extLst>
          </p:cNvPr>
          <p:cNvSpPr/>
          <p:nvPr/>
        </p:nvSpPr>
        <p:spPr>
          <a:xfrm rot="16200000">
            <a:off x="8157959" y="162878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4BAC303C-2AD8-B056-FC9E-595202C13511}"/>
              </a:ext>
            </a:extLst>
          </p:cNvPr>
          <p:cNvSpPr/>
          <p:nvPr/>
        </p:nvSpPr>
        <p:spPr>
          <a:xfrm rot="5400000">
            <a:off x="7906745" y="4164823"/>
            <a:ext cx="338554" cy="552677"/>
          </a:xfrm>
          <a:prstGeom prst="downArrow">
            <a:avLst>
              <a:gd name="adj1" fmla="val 44444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EB62DD8-CDA4-760F-9D40-F4208EB2E8C2}"/>
              </a:ext>
            </a:extLst>
          </p:cNvPr>
          <p:cNvCxnSpPr/>
          <p:nvPr/>
        </p:nvCxnSpPr>
        <p:spPr>
          <a:xfrm flipH="1">
            <a:off x="11534694" y="4813334"/>
            <a:ext cx="1" cy="5230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4DF9941D-6B79-2899-A1D1-B27D22886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550" y="1703738"/>
            <a:ext cx="3276892" cy="2962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7F7228-34B6-CE9B-292C-01CB4B0D4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329" y="5373862"/>
            <a:ext cx="3143689" cy="4477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E89398B-B592-1B47-E547-1E2502D83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735" y="4186005"/>
            <a:ext cx="7048500" cy="5524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0550279A-52F8-A979-C886-CCAC0FA0B497}"/>
              </a:ext>
            </a:extLst>
          </p:cNvPr>
          <p:cNvSpPr txBox="1"/>
          <p:nvPr/>
        </p:nvSpPr>
        <p:spPr>
          <a:xfrm>
            <a:off x="626137" y="3809029"/>
            <a:ext cx="3624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Stop and start Jenkins in Docker desktop</a:t>
            </a:r>
          </a:p>
        </p:txBody>
      </p:sp>
    </p:spTree>
    <p:extLst>
      <p:ext uri="{BB962C8B-B14F-4D97-AF65-F5344CB8AC3E}">
        <p14:creationId xmlns:p14="http://schemas.microsoft.com/office/powerpoint/2010/main" val="2547924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4DE833A6-940F-59BA-047B-CAC50558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1" y="62966"/>
            <a:ext cx="1982727" cy="132040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50F9CD-35F2-71A6-0377-F98A6C047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3" y="2547077"/>
            <a:ext cx="1829055" cy="4953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B0FC1DF3-1163-E2F6-487C-188D3B28C36E}"/>
              </a:ext>
            </a:extLst>
          </p:cNvPr>
          <p:cNvSpPr/>
          <p:nvPr/>
        </p:nvSpPr>
        <p:spPr>
          <a:xfrm rot="16200000">
            <a:off x="2370084" y="2644569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A7823F-A478-4793-8F22-62B34147B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919" y="2140085"/>
            <a:ext cx="3750431" cy="113937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A2F4B1-4AB1-B38A-CFC4-ADDC0DC5F7ED}"/>
              </a:ext>
            </a:extLst>
          </p:cNvPr>
          <p:cNvSpPr txBox="1"/>
          <p:nvPr/>
        </p:nvSpPr>
        <p:spPr>
          <a:xfrm>
            <a:off x="3925182" y="3824850"/>
            <a:ext cx="4458624" cy="32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sz="14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Scroll down until you find the </a:t>
            </a:r>
            <a:r>
              <a:rPr lang="en-GB" sz="14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Maven</a:t>
            </a:r>
            <a:r>
              <a:rPr lang="en-GB" sz="14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section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D8237D-76AD-ACDA-6007-48F74A9C5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690" y="4232381"/>
            <a:ext cx="2705478" cy="105742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F844DB1-3B51-0EB8-7D52-B57AF49137B2}"/>
              </a:ext>
            </a:extLst>
          </p:cNvPr>
          <p:cNvSpPr/>
          <p:nvPr/>
        </p:nvSpPr>
        <p:spPr>
          <a:xfrm>
            <a:off x="6113756" y="4835206"/>
            <a:ext cx="246227" cy="291976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04F9E0-617E-4C7E-0F46-DAEFD4155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513" y="1049907"/>
            <a:ext cx="3276593" cy="5600298"/>
          </a:xfrm>
          <a:prstGeom prst="rect">
            <a:avLst/>
          </a:prstGeom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E5B784A7-62A0-3908-B4DB-5E982F018397}"/>
              </a:ext>
            </a:extLst>
          </p:cNvPr>
          <p:cNvSpPr/>
          <p:nvPr/>
        </p:nvSpPr>
        <p:spPr>
          <a:xfrm rot="16200000">
            <a:off x="7551684" y="46074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5FC6E51-8164-FAEB-E51A-542E2E14E4F0}"/>
              </a:ext>
            </a:extLst>
          </p:cNvPr>
          <p:cNvSpPr/>
          <p:nvPr/>
        </p:nvSpPr>
        <p:spPr>
          <a:xfrm>
            <a:off x="4093464" y="334365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Speech Bubble: Oval 27">
            <a:extLst>
              <a:ext uri="{FF2B5EF4-FFF2-40B4-BE49-F238E27FC236}">
                <a16:creationId xmlns:a16="http://schemas.microsoft.com/office/drawing/2014/main" id="{443CF5AD-F3C9-CCAE-DC33-4929D08C3BCD}"/>
              </a:ext>
            </a:extLst>
          </p:cNvPr>
          <p:cNvSpPr/>
          <p:nvPr/>
        </p:nvSpPr>
        <p:spPr>
          <a:xfrm>
            <a:off x="9339072" y="2878714"/>
            <a:ext cx="795528" cy="243574"/>
          </a:xfrm>
          <a:prstGeom prst="wedgeEllipseCallout">
            <a:avLst>
              <a:gd name="adj1" fmla="val -65184"/>
              <a:gd name="adj2" fmla="val -7787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Type</a:t>
            </a:r>
          </a:p>
        </p:txBody>
      </p:sp>
      <p:sp>
        <p:nvSpPr>
          <p:cNvPr id="30" name="Speech Bubble: Oval 29">
            <a:extLst>
              <a:ext uri="{FF2B5EF4-FFF2-40B4-BE49-F238E27FC236}">
                <a16:creationId xmlns:a16="http://schemas.microsoft.com/office/drawing/2014/main" id="{96FBCA06-F891-365E-75AD-FE8C1ADDAE35}"/>
              </a:ext>
            </a:extLst>
          </p:cNvPr>
          <p:cNvSpPr/>
          <p:nvPr/>
        </p:nvSpPr>
        <p:spPr>
          <a:xfrm>
            <a:off x="7607808" y="6213226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5458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94E14-0CEE-BF6B-B5FE-80186EDB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21" y="393128"/>
            <a:ext cx="2008627" cy="69114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EF0FAC-2083-F329-181A-AA2CC933A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13" y="1481328"/>
            <a:ext cx="1641022" cy="47640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436B778D-FB68-5ED5-A286-7D2CD14444B4}"/>
              </a:ext>
            </a:extLst>
          </p:cNvPr>
          <p:cNvSpPr/>
          <p:nvPr/>
        </p:nvSpPr>
        <p:spPr>
          <a:xfrm>
            <a:off x="1180180" y="111352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0D18B69-9CF3-47CE-D1D9-82EA233C6F90}"/>
              </a:ext>
            </a:extLst>
          </p:cNvPr>
          <p:cNvSpPr/>
          <p:nvPr/>
        </p:nvSpPr>
        <p:spPr>
          <a:xfrm rot="16200000">
            <a:off x="2447544" y="1542288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1A094-B3E1-315F-5F02-CDB52BC5A55A}"/>
              </a:ext>
            </a:extLst>
          </p:cNvPr>
          <p:cNvSpPr txBox="1"/>
          <p:nvPr/>
        </p:nvSpPr>
        <p:spPr>
          <a:xfrm>
            <a:off x="2871216" y="1546973"/>
            <a:ext cx="1767087" cy="30777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1400" dirty="0"/>
              <a:t>&lt;&gt; Developer settings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F9F4DB-E1C1-85E5-EAE8-6DF01368F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87" y="1473750"/>
            <a:ext cx="2409825" cy="381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2559166B-95F8-7E55-348B-8FAC1C2FCC7C}"/>
              </a:ext>
            </a:extLst>
          </p:cNvPr>
          <p:cNvSpPr/>
          <p:nvPr/>
        </p:nvSpPr>
        <p:spPr>
          <a:xfrm rot="16200000">
            <a:off x="4710821" y="1544109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46F1CA-A7E3-73F5-ED10-2592D8E65FDC}"/>
              </a:ext>
            </a:extLst>
          </p:cNvPr>
          <p:cNvSpPr txBox="1"/>
          <p:nvPr/>
        </p:nvSpPr>
        <p:spPr>
          <a:xfrm>
            <a:off x="5413248" y="1901952"/>
            <a:ext cx="1568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Select </a:t>
            </a:r>
            <a:r>
              <a:rPr lang="en-GB" sz="1200" b="1" dirty="0"/>
              <a:t>Tokens (classic)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2BE709-2406-D017-8627-93C7682C6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625" y="1426464"/>
            <a:ext cx="2156716" cy="492294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16CBC7BB-345F-6DAC-8C6A-B8412AE7B8D5}"/>
              </a:ext>
            </a:extLst>
          </p:cNvPr>
          <p:cNvSpPr/>
          <p:nvPr/>
        </p:nvSpPr>
        <p:spPr>
          <a:xfrm rot="16200000">
            <a:off x="7534197" y="1531584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ED85C9-46AC-2C35-1B44-2B2951B888E8}"/>
              </a:ext>
            </a:extLst>
          </p:cNvPr>
          <p:cNvSpPr txBox="1"/>
          <p:nvPr/>
        </p:nvSpPr>
        <p:spPr>
          <a:xfrm>
            <a:off x="8080248" y="1930723"/>
            <a:ext cx="1095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Select </a:t>
            </a:r>
            <a:r>
              <a:rPr lang="en-GB" sz="1200" b="1" dirty="0"/>
              <a:t>(classic)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C21FF8-02EF-54B1-578D-41B9832A4591}"/>
              </a:ext>
            </a:extLst>
          </p:cNvPr>
          <p:cNvSpPr/>
          <p:nvPr/>
        </p:nvSpPr>
        <p:spPr>
          <a:xfrm>
            <a:off x="414533" y="5929884"/>
            <a:ext cx="1131407" cy="388620"/>
          </a:xfrm>
          <a:prstGeom prst="ellipse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5BBC4694-487B-20A0-E465-84A337276E2B}"/>
              </a:ext>
            </a:extLst>
          </p:cNvPr>
          <p:cNvSpPr/>
          <p:nvPr/>
        </p:nvSpPr>
        <p:spPr>
          <a:xfrm>
            <a:off x="9556952" y="346091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0A4A2096-4F6A-4402-78E9-F5B9C0704A44}"/>
              </a:ext>
            </a:extLst>
          </p:cNvPr>
          <p:cNvSpPr/>
          <p:nvPr/>
        </p:nvSpPr>
        <p:spPr>
          <a:xfrm rot="16200000" flipV="1">
            <a:off x="8170854" y="4240967"/>
            <a:ext cx="329184" cy="3758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DD157CA-FF4F-F9EC-9E14-306A7A70D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0986" y="2404616"/>
            <a:ext cx="1714500" cy="981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Arrow: Down 37">
            <a:extLst>
              <a:ext uri="{FF2B5EF4-FFF2-40B4-BE49-F238E27FC236}">
                <a16:creationId xmlns:a16="http://schemas.microsoft.com/office/drawing/2014/main" id="{1B02DC99-B170-F2EB-840C-6256932AAB16}"/>
              </a:ext>
            </a:extLst>
          </p:cNvPr>
          <p:cNvSpPr/>
          <p:nvPr/>
        </p:nvSpPr>
        <p:spPr>
          <a:xfrm>
            <a:off x="9537928" y="1990836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1BDB79F-216D-25C9-072E-68DB4A53CD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374" y="3799471"/>
            <a:ext cx="2029108" cy="1228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B497F5A-3808-15F5-F61F-BBAB2BB139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9463" y="4193207"/>
            <a:ext cx="1648055" cy="48584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94B3CD7-5CBA-6882-AD46-802901245C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8053" y="5137797"/>
            <a:ext cx="5060736" cy="590041"/>
          </a:xfrm>
          <a:prstGeom prst="rect">
            <a:avLst/>
          </a:prstGeom>
        </p:spPr>
      </p:pic>
      <p:sp>
        <p:nvSpPr>
          <p:cNvPr id="48" name="Speech Bubble: Oval 47">
            <a:extLst>
              <a:ext uri="{FF2B5EF4-FFF2-40B4-BE49-F238E27FC236}">
                <a16:creationId xmlns:a16="http://schemas.microsoft.com/office/drawing/2014/main" id="{7E686DF0-4A30-20D7-8DEA-A902C9E7D2B4}"/>
              </a:ext>
            </a:extLst>
          </p:cNvPr>
          <p:cNvSpPr/>
          <p:nvPr/>
        </p:nvSpPr>
        <p:spPr>
          <a:xfrm>
            <a:off x="1699728" y="1279863"/>
            <a:ext cx="663331" cy="344424"/>
          </a:xfrm>
          <a:prstGeom prst="wedgeEllipseCallout">
            <a:avLst>
              <a:gd name="adj1" fmla="val -59441"/>
              <a:gd name="adj2" fmla="val 412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Click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CDBC0-9EA9-723C-830E-848AE84748EE}"/>
              </a:ext>
            </a:extLst>
          </p:cNvPr>
          <p:cNvSpPr txBox="1"/>
          <p:nvPr/>
        </p:nvSpPr>
        <p:spPr>
          <a:xfrm>
            <a:off x="2568100" y="218032"/>
            <a:ext cx="9176427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345A8A"/>
                </a:solidFill>
                <a:latin typeface="Montserrat" panose="00000500000000000000" pitchFamily="2" charset="0"/>
              </a:rPr>
              <a:t>Generate a secret key to grant Jenkins access to GitHub</a:t>
            </a: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9118587A-6410-8A10-3D2B-74E43B2B3B02}"/>
              </a:ext>
            </a:extLst>
          </p:cNvPr>
          <p:cNvSpPr/>
          <p:nvPr/>
        </p:nvSpPr>
        <p:spPr>
          <a:xfrm>
            <a:off x="5867067" y="5829238"/>
            <a:ext cx="2518175" cy="714404"/>
          </a:xfrm>
          <a:prstGeom prst="wedgeEllipseCallout">
            <a:avLst>
              <a:gd name="adj1" fmla="val -34165"/>
              <a:gd name="adj2" fmla="val -6249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>
                <a:solidFill>
                  <a:srgbClr val="C00000"/>
                </a:solidFill>
              </a:rPr>
              <a:t>Copy the secret key to notepad</a:t>
            </a:r>
          </a:p>
        </p:txBody>
      </p:sp>
    </p:spTree>
    <p:extLst>
      <p:ext uri="{BB962C8B-B14F-4D97-AF65-F5344CB8AC3E}">
        <p14:creationId xmlns:p14="http://schemas.microsoft.com/office/powerpoint/2010/main" val="187273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C570-F41A-A421-59AA-CB768B47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  <a:ea typeface="+mn-ea"/>
                <a:cs typeface="+mn-cs"/>
              </a:rPr>
              <a:t>Create a repository for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AF57F-CD69-9A5C-DC2C-BD244DC08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Copy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calculator-</a:t>
            </a:r>
            <a:r>
              <a:rPr lang="en-GB" sz="1800" b="1" dirty="0" err="1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jenkins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folder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from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Jenkins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folder to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:\calculator-Jenkins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Open a terminal window, and navigate to C:\calculator-Jenkins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cd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 c:\calculator-jenkins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Initialise the folder as a new Git repo:  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</a:t>
            </a:r>
            <a:r>
              <a:rPr lang="en-GB" sz="1800" b="1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init</a:t>
            </a:r>
            <a:endParaRPr lang="en-GB" sz="18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Add all of the files: 			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add .</a:t>
            </a:r>
            <a:endParaRPr lang="en-GB" sz="18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Commit the files: 				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git commit -m "Initial commit"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Create a new repository in GitHub and call it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calculator-Jenkins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Type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branch  -M  main      	</a:t>
            </a: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(in the terminal window)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remote  add  origin 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  <a:hlinkClick r:id="rId2"/>
              </a:rPr>
              <a:t>https://github.com/..../calculator-</a:t>
            </a:r>
            <a:r>
              <a:rPr lang="en-GB" sz="1800" b="1" dirty="0" err="1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  <a:hlinkClick r:id="rId2"/>
              </a:rPr>
              <a:t>jenkins.git</a:t>
            </a:r>
            <a:endParaRPr lang="en-GB" sz="1800" b="1" dirty="0"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GB" sz="18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		 </a:t>
            </a:r>
            <a:r>
              <a:rPr lang="en-GB" sz="1800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 push  -u  origin  main</a:t>
            </a:r>
            <a:br>
              <a:rPr lang="en-GB" sz="400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sz="400" dirty="0">
              <a:effectLst/>
              <a:latin typeface="Consolas" panose="020B0609020204030204" pitchFamily="49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0A97B7E1-B4D4-B1DA-2294-34F35A3A5E17}"/>
              </a:ext>
            </a:extLst>
          </p:cNvPr>
          <p:cNvSpPr/>
          <p:nvPr/>
        </p:nvSpPr>
        <p:spPr>
          <a:xfrm>
            <a:off x="8391152" y="5935929"/>
            <a:ext cx="1798305" cy="241034"/>
          </a:xfrm>
          <a:prstGeom prst="wedgeEllipseCallout">
            <a:avLst>
              <a:gd name="adj1" fmla="val 24544"/>
              <a:gd name="adj2" fmla="val -12026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dk1"/>
                </a:solidFill>
              </a:rPr>
              <a:t>Copy the address</a:t>
            </a:r>
          </a:p>
        </p:txBody>
      </p:sp>
    </p:spTree>
    <p:extLst>
      <p:ext uri="{BB962C8B-B14F-4D97-AF65-F5344CB8AC3E}">
        <p14:creationId xmlns:p14="http://schemas.microsoft.com/office/powerpoint/2010/main" val="205615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BA71-846B-7EFF-B7A7-97283B1D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208" y="362055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  <a:ea typeface="+mn-ea"/>
                <a:cs typeface="+mn-cs"/>
              </a:rPr>
              <a:t>Create a new Jenkins job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59190-2D28-4232-790A-40FCFE98B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8" y="1895006"/>
            <a:ext cx="1537670" cy="497807"/>
          </a:xfrm>
          <a:prstGeom prst="rect">
            <a:avLst/>
          </a:prstGeom>
        </p:spPr>
      </p:pic>
      <p:pic>
        <p:nvPicPr>
          <p:cNvPr id="6" name="Picture 4" descr="A Guide to Continuous Integration Tools | Logz.io">
            <a:extLst>
              <a:ext uri="{FF2B5EF4-FFF2-40B4-BE49-F238E27FC236}">
                <a16:creationId xmlns:a16="http://schemas.microsoft.com/office/drawing/2014/main" id="{5C538FAE-95B1-D24D-AAB1-8741D9B4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990468" cy="13255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308E3F-2C56-9C8D-325A-AB8353258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683" y="2053369"/>
            <a:ext cx="2543530" cy="298174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11611274-F32C-ACB6-7BAE-8875C1D8BDBF}"/>
              </a:ext>
            </a:extLst>
          </p:cNvPr>
          <p:cNvSpPr/>
          <p:nvPr/>
        </p:nvSpPr>
        <p:spPr>
          <a:xfrm>
            <a:off x="1879900" y="4343401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Select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876C4C8B-1D3E-779B-2292-6E3D5BC15973}"/>
              </a:ext>
            </a:extLst>
          </p:cNvPr>
          <p:cNvSpPr/>
          <p:nvPr/>
        </p:nvSpPr>
        <p:spPr>
          <a:xfrm>
            <a:off x="1898155" y="2721988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Type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557545-C837-DC3A-239D-83AEB44D7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662" y="5281201"/>
            <a:ext cx="943107" cy="428685"/>
          </a:xfrm>
          <a:prstGeom prst="rect">
            <a:avLst/>
          </a:prstGeom>
        </p:spPr>
      </p:pic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54BE50A9-D69C-C2A5-8A8E-AA06D5B7399B}"/>
              </a:ext>
            </a:extLst>
          </p:cNvPr>
          <p:cNvSpPr/>
          <p:nvPr/>
        </p:nvSpPr>
        <p:spPr>
          <a:xfrm>
            <a:off x="1885996" y="5346193"/>
            <a:ext cx="795528" cy="243574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E48B1F-D0F8-1EE8-7199-DDCCC2282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688" y="2392813"/>
            <a:ext cx="4676775" cy="25336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DB4E3E-CDAA-9490-6AF5-6313B812F399}"/>
              </a:ext>
            </a:extLst>
          </p:cNvPr>
          <p:cNvSpPr txBox="1"/>
          <p:nvPr/>
        </p:nvSpPr>
        <p:spPr>
          <a:xfrm>
            <a:off x="6611112" y="1916438"/>
            <a:ext cx="212519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On the screen below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B2E7DF-1858-A2FC-2DEC-75F7E55C7275}"/>
              </a:ext>
            </a:extLst>
          </p:cNvPr>
          <p:cNvSpPr txBox="1"/>
          <p:nvPr/>
        </p:nvSpPr>
        <p:spPr>
          <a:xfrm>
            <a:off x="7495683" y="5055850"/>
            <a:ext cx="2810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Continue on the next slide…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944351B3-5596-ACFC-B818-007109342B9F}"/>
              </a:ext>
            </a:extLst>
          </p:cNvPr>
          <p:cNvSpPr/>
          <p:nvPr/>
        </p:nvSpPr>
        <p:spPr>
          <a:xfrm rot="16200000">
            <a:off x="5460629" y="3482637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48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DC6701-E395-AE7C-5FCF-BD38C691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248" y="3442450"/>
            <a:ext cx="3638550" cy="14954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EFDA90-5FEB-F781-B8AE-E515629A4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296" y="5078886"/>
            <a:ext cx="1009791" cy="48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43610D-0240-F391-187F-6F64F8927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1198042"/>
            <a:ext cx="1466850" cy="17907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9ED1B84C-4030-0B93-5987-5DC3EFA1E90D}"/>
              </a:ext>
            </a:extLst>
          </p:cNvPr>
          <p:cNvSpPr/>
          <p:nvPr/>
        </p:nvSpPr>
        <p:spPr>
          <a:xfrm>
            <a:off x="157779" y="1511490"/>
            <a:ext cx="1025987" cy="581902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 the arrow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966A5D5E-2D72-1350-DEC0-1C356943D107}"/>
              </a:ext>
            </a:extLst>
          </p:cNvPr>
          <p:cNvSpPr/>
          <p:nvPr/>
        </p:nvSpPr>
        <p:spPr>
          <a:xfrm>
            <a:off x="157778" y="2194242"/>
            <a:ext cx="1025987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Then Click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0751D9-2E20-BBBA-96E0-B89A9B5B8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775" y="207488"/>
            <a:ext cx="3695700" cy="61436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236EC156-AFD0-28DD-BB3A-0362825F0AA9}"/>
              </a:ext>
            </a:extLst>
          </p:cNvPr>
          <p:cNvSpPr/>
          <p:nvPr/>
        </p:nvSpPr>
        <p:spPr>
          <a:xfrm>
            <a:off x="1009099" y="3429000"/>
            <a:ext cx="2419351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Personal access token from GitHub</a:t>
            </a:r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27866DF3-3AE8-DF30-1BCF-29E25EBFF05A}"/>
              </a:ext>
            </a:extLst>
          </p:cNvPr>
          <p:cNvSpPr/>
          <p:nvPr/>
        </p:nvSpPr>
        <p:spPr>
          <a:xfrm>
            <a:off x="7221475" y="1642872"/>
            <a:ext cx="1025987" cy="484366"/>
          </a:xfrm>
          <a:prstGeom prst="wedgeEllipseCallout">
            <a:avLst>
              <a:gd name="adj1" fmla="val -71586"/>
              <a:gd name="adj2" fmla="val 2795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Select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F642133-1B55-8C2D-5B31-D03C8B5C2F49}"/>
              </a:ext>
            </a:extLst>
          </p:cNvPr>
          <p:cNvSpPr/>
          <p:nvPr/>
        </p:nvSpPr>
        <p:spPr>
          <a:xfrm rot="16200000">
            <a:off x="2927741" y="1991581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78699FC6-0C41-E139-F48C-79E0C7E01AEC}"/>
              </a:ext>
            </a:extLst>
          </p:cNvPr>
          <p:cNvSpPr/>
          <p:nvPr/>
        </p:nvSpPr>
        <p:spPr>
          <a:xfrm rot="16200000">
            <a:off x="7472309" y="4067853"/>
            <a:ext cx="329184" cy="338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1A0132DA-D3F9-440D-86D3-502A9BE5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1"/>
            <a:ext cx="1355256" cy="9025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10D1892-1CF2-C3C7-9F40-C329B633B3ED}"/>
              </a:ext>
            </a:extLst>
          </p:cNvPr>
          <p:cNvSpPr/>
          <p:nvPr/>
        </p:nvSpPr>
        <p:spPr>
          <a:xfrm>
            <a:off x="3020992" y="5960962"/>
            <a:ext cx="407458" cy="3009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272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06BDC0-D110-BDFA-78FC-FAE2A4ECC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157" y="1328323"/>
            <a:ext cx="3793852" cy="692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5A18A-0F05-3A1F-C88A-A41FA9C6E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81" y="2223393"/>
            <a:ext cx="4141286" cy="2202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5E5D13-0FEE-B643-D9DC-8F84A40CA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363" y="3099815"/>
            <a:ext cx="6420746" cy="2829320"/>
          </a:xfrm>
          <a:prstGeom prst="rect">
            <a:avLst/>
          </a:prstGeom>
        </p:spPr>
      </p:pic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98C35BA4-0A5A-E237-D00F-CEB424CE3C41}"/>
              </a:ext>
            </a:extLst>
          </p:cNvPr>
          <p:cNvSpPr/>
          <p:nvPr/>
        </p:nvSpPr>
        <p:spPr>
          <a:xfrm>
            <a:off x="0" y="2857632"/>
            <a:ext cx="1025987" cy="484366"/>
          </a:xfrm>
          <a:prstGeom prst="wedgeEllipseCallout">
            <a:avLst>
              <a:gd name="adj1" fmla="val 64774"/>
              <a:gd name="adj2" fmla="val 4116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Click to see log</a:t>
            </a:r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24F3B058-55E0-3832-7D3F-37999F21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614779" cy="10753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60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C1DBB-4F89-7460-C503-8AAA0E728BFD}"/>
              </a:ext>
            </a:extLst>
          </p:cNvPr>
          <p:cNvSpPr txBox="1"/>
          <p:nvPr/>
        </p:nvSpPr>
        <p:spPr>
          <a:xfrm>
            <a:off x="1610460" y="254246"/>
            <a:ext cx="99006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</a:rPr>
              <a:t>Configure Jenkins’ Build Triggers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47AFE-5CF2-2B9B-4FED-8B3CDBAB056A}"/>
              </a:ext>
            </a:extLst>
          </p:cNvPr>
          <p:cNvSpPr txBox="1"/>
          <p:nvPr/>
        </p:nvSpPr>
        <p:spPr>
          <a:xfrm>
            <a:off x="925830" y="1247866"/>
            <a:ext cx="10293858" cy="212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In the </a:t>
            </a: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Calculator job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window, select 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Click on 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Check the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Poll SCM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(Source Control Management) box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Enter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* * * * *</a:t>
            </a:r>
            <a:r>
              <a:rPr lang="en-US" sz="2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into the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Schedule </a:t>
            </a:r>
            <a:b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to build every minute </a:t>
            </a:r>
            <a:r>
              <a:rPr lang="en-US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every time a commit is made to this repo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057DC2-2942-D352-DA69-6D9D443B3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182" y="1161288"/>
            <a:ext cx="1775834" cy="599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882764-8654-6F2F-7F9E-2BEA0D073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262" y="1695912"/>
            <a:ext cx="1830922" cy="4254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819F60-62A3-09FD-2C2C-0575AC1D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246" y="2121408"/>
            <a:ext cx="2200938" cy="16707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CCE701-E78B-331A-716F-0ACCB48D0641}"/>
              </a:ext>
            </a:extLst>
          </p:cNvPr>
          <p:cNvSpPr txBox="1"/>
          <p:nvPr/>
        </p:nvSpPr>
        <p:spPr>
          <a:xfrm>
            <a:off x="1252728" y="4398264"/>
            <a:ext cx="3427413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GB" sz="2000" b="1" dirty="0"/>
              <a:t>Let's test this on the next page</a:t>
            </a:r>
            <a:endParaRPr lang="en-GB" b="1" dirty="0"/>
          </a:p>
        </p:txBody>
      </p:sp>
      <p:pic>
        <p:nvPicPr>
          <p:cNvPr id="2" name="Picture 4" descr="A Guide to Continuous Integration Tools | Logz.io">
            <a:extLst>
              <a:ext uri="{FF2B5EF4-FFF2-40B4-BE49-F238E27FC236}">
                <a16:creationId xmlns:a16="http://schemas.microsoft.com/office/drawing/2014/main" id="{B6ACFA8E-F914-C0BC-118C-1853EBD01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" y="50772"/>
            <a:ext cx="1667555" cy="11105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47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C1DBB-4F89-7460-C503-8AAA0E728BFD}"/>
              </a:ext>
            </a:extLst>
          </p:cNvPr>
          <p:cNvSpPr txBox="1"/>
          <p:nvPr/>
        </p:nvSpPr>
        <p:spPr>
          <a:xfrm>
            <a:off x="715518" y="254246"/>
            <a:ext cx="9226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sz="4000" b="1" dirty="0">
                <a:solidFill>
                  <a:srgbClr val="345A8A"/>
                </a:solidFill>
                <a:latin typeface="Montserrat" panose="00000500000000000000" pitchFamily="2" charset="0"/>
              </a:rPr>
              <a:t>Run the Trigger </a:t>
            </a:r>
            <a:r>
              <a:rPr lang="en-GB" b="1" dirty="0">
                <a:latin typeface="Montserrat" panose="00000500000000000000" pitchFamily="2" charset="0"/>
              </a:rPr>
              <a:t>(Terminal window)</a:t>
            </a:r>
            <a:endParaRPr lang="en-GB" sz="4000" b="1" dirty="0"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47AFE-5CF2-2B9B-4FED-8B3CDBAB056A}"/>
              </a:ext>
            </a:extLst>
          </p:cNvPr>
          <p:cNvSpPr txBox="1"/>
          <p:nvPr/>
        </p:nvSpPr>
        <p:spPr>
          <a:xfrm>
            <a:off x="925830" y="1247866"/>
            <a:ext cx="10293858" cy="560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 the C:\ drive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/</a:t>
            </a:r>
            <a:r>
              <a:rPr lang="en-GB" sz="1800" b="1" dirty="0" err="1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src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/test/java/com/agile/calculator/CalculatorTest.java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Change the value of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expected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 on line 17 to </a:t>
            </a:r>
            <a:r>
              <a:rPr lang="en-GB" sz="1800" b="1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42  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(</a:t>
            </a:r>
            <a:r>
              <a:rPr lang="en-GB" sz="1800" dirty="0">
                <a:solidFill>
                  <a:srgbClr val="C00000"/>
                </a:solidFill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makes the test fail</a:t>
            </a:r>
            <a:r>
              <a:rPr lang="en-GB" sz="1800" dirty="0">
                <a:effectLst/>
                <a:latin typeface="Consolas" panose="020B0609020204030204" pitchFamily="49" charset="0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Save the file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Add and commit this file to the repo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add </a:t>
            </a:r>
            <a:r>
              <a:rPr lang="en-GB" sz="2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b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commit </a:t>
            </a:r>
            <a: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–m "change test result"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GB" sz="1800" b="1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git push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GB" b="1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Wait for a minute </a:t>
            </a:r>
            <a:r>
              <a:rPr lang="en-GB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(resist the urge to press the Build now button!)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  <a:buFont typeface="+mj-lt"/>
              <a:buAutoNum type="arabicPeriod"/>
            </a:pP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GB" dirty="0"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  <a:t>This time the build fails, and the log indicates the reason for this failure</a:t>
            </a:r>
            <a:br>
              <a:rPr lang="en-GB" sz="1800" dirty="0">
                <a:effectLst/>
                <a:latin typeface="Montserrat" panose="00000500000000000000" pitchFamily="2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sz="1800" dirty="0">
              <a:effectLst/>
              <a:latin typeface="Montserrat" panose="00000500000000000000" pitchFamily="2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Bef>
                <a:spcPts val="600"/>
              </a:spcBef>
              <a:spcAft>
                <a:spcPts val="400"/>
              </a:spcAf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950D7-D91B-B100-080B-C483428C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358" y="5610134"/>
            <a:ext cx="2779775" cy="84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2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Consolas</vt:lpstr>
      <vt:lpstr>Montserrat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 a repository for your code</vt:lpstr>
      <vt:lpstr>Create a new Jenkins job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Baradaran, Mike</dc:creator>
  <cp:lastModifiedBy>mike baradaran</cp:lastModifiedBy>
  <cp:revision>68</cp:revision>
  <dcterms:created xsi:type="dcterms:W3CDTF">2023-07-14T17:13:04Z</dcterms:created>
  <dcterms:modified xsi:type="dcterms:W3CDTF">2026-02-25T10:39:43Z</dcterms:modified>
</cp:coreProperties>
</file>